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29" y="605"/>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Sekou Kromah</a:t>
            </a:r>
            <a:endParaRPr sz="1850" i="1" dirty="0"/>
          </a:p>
          <a:p>
            <a:pPr marL="0" lvl="0" indent="0" algn="l" rtl="0">
              <a:lnSpc>
                <a:spcPct val="70000"/>
              </a:lnSpc>
              <a:spcBef>
                <a:spcPts val="1000"/>
              </a:spcBef>
              <a:spcAft>
                <a:spcPts val="0"/>
              </a:spcAft>
              <a:buSzPts val="1850"/>
              <a:buNone/>
            </a:pPr>
            <a:r>
              <a:rPr lang="en-US" dirty="0"/>
              <a:t>[Complete this template by replacing the bracketed text with the relevant information.]</a:t>
            </a:r>
            <a:endParaRPr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buSzPts val="2200"/>
              <a:buNone/>
            </a:pPr>
            <a:r>
              <a:rPr lang="en-US" dirty="0"/>
              <a:t>In order to handle contemporary, sophisticated software supply-chain vulnerabilities that easily evade traditional perimeter firewall defenses, the Green Pace Secure Coding Policy was essentially necessary. In the past, late-stage bug discovery has resulted in systemic technological debt and exposed services to disastrous remote code execution errors. By shifting security to the left, engineering teams may address structural flaws early in the code creation process, when they are most affordable and secure to remedy.</a:t>
            </a: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4754879"/>
            <a:ext cx="6453257" cy="1881727"/>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fontScale="55000" lnSpcReduction="20000"/>
          </a:bodyPr>
          <a:lstStyle/>
          <a:p>
            <a:pPr marL="228600" lvl="0" indent="0">
              <a:spcBef>
                <a:spcPts val="0"/>
              </a:spcBef>
              <a:buNone/>
            </a:pPr>
            <a:r>
              <a:rPr lang="en-US" sz="2000" dirty="0"/>
              <a:t>To optimize our mitigation efficiency, our prioritized risk strategy is based on a rigorous Threats Matrix that divides core vulnerabilities according to impact and likelihood. Serious application flaws like SQL Injection and Cross-Site Scripting (XSS), which are easy to find automatically and result in direct database compromise, are included in Likely &amp; High Priority threats. Unlikely &amp; Low Priority threats include edge scenarios such as intricate multithreading race issues that can only be exploited in extremely particular runtime environments. On each code commit, we automatically scan our code and third-party libraries using Static Application Security Testing (SAST) and Software Composition Analysis (SCA). If high-priority vulnerabilities are found, the pipeline is immediately broken.</a:t>
            </a:r>
            <a:endParaRPr dirty="0"/>
          </a:p>
        </p:txBody>
      </p:sp>
      <p:graphicFrame>
        <p:nvGraphicFramePr>
          <p:cNvPr id="161" name="Google Shape;161;p4" descr="Alt text required"/>
          <p:cNvGraphicFramePr/>
          <p:nvPr>
            <p:extLst>
              <p:ext uri="{D42A27DB-BD31-4B8C-83A1-F6EECF244321}">
                <p14:modId xmlns:p14="http://schemas.microsoft.com/office/powerpoint/2010/main" val="4404453"/>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[Insert text here.]</a:t>
                      </a:r>
                      <a:endParaRPr sz="3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[Insert text here.]</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Low priority</a:t>
                      </a:r>
                      <a:endParaRPr sz="1400" u="none" strike="noStrike" cap="none"/>
                    </a:p>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[Insert text here.]</a:t>
                      </a:r>
                      <a:endParaRPr sz="1400" u="none" strike="noStrike" cap="none"/>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[Insert text here.]</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spcBef>
                <a:spcPts val="0"/>
              </a:spcBef>
              <a:buSzPts val="2200"/>
              <a:buNone/>
            </a:pPr>
            <a:r>
              <a:rPr lang="en-US" dirty="0"/>
              <a:t>In order to create robust code in a methodical manner, this policy clearly links enforced development standards with high-level software security ideas. Key guidelines mandate that developers utilize highly restricted database service accounts to enforce the principle of least privilege and minimize the attack surface area by deactivating unnecessary API endpoints. Additionally, we require that programs fail safely without disclosing internal debugging logs to end users, rigorously evaluate inputs on both the client and server sides, and approach any external data feeds with a certain amount of skepticism.</a:t>
            </a: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000"/>
            </a:pPr>
            <a:r>
              <a:rPr lang="en-US" dirty="0"/>
              <a:t>Ten stringent operating priorities are required by our coding rules, including tight Concurrency Control at Priority 10 and Input Validation &amp; Query Parameterization at Priority 1. A typical Risk Matrix (Exploit Likelihood × Business Impact) built from global industry data is used in this particular ranking methodology. Our top goal is input parameterization since automated malicious actors constantly target injection vulnerabilities, while deeper system targeting is necessary for lower-tier setups like race situations to function properly.</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000"/>
            </a:pPr>
            <a:r>
              <a:rPr lang="en-US" sz="2000" dirty="0"/>
              <a:t>Strict data validation criteria are required for all three basic data lifecycles under the Green Pace cryptographic policy. In order to prevent machine-in-the-middle attacks, TLS 1.3 with forward secrecy is the only protocol required for data traveling across public or internal networks. While data in use uses hardware-isolated enclaves via Confidential Computing to protect variables in volatile memory during active CPU cycles, data at rest must enforce AES-256 bit encryption in conjunction with an automated 90-day Key Management Service rotation.</a:t>
            </a: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400"/>
            </a:pPr>
            <a:r>
              <a:rPr lang="en-US" dirty="0"/>
              <a:t>Our technical boundary protocols create unbreakable system boundaries that control accounting, authorization, and authentication for applications. For administrative operations, standard text passwords are prohibited. Instead, context-aware multi-factor authentication based on FIDO2 and </a:t>
            </a:r>
            <a:r>
              <a:rPr lang="en-US" dirty="0" err="1"/>
              <a:t>WebAuthn</a:t>
            </a:r>
            <a:r>
              <a:rPr lang="en-US" dirty="0"/>
              <a:t> hardware security keys is required. Attribute-Based Access Control (ABAC) is used at the server controller to verify authorization, and in order to prevent malicious tampering, system accounting requires immutable, write-once audit logs that are delivered in real time to an isolated SIEM platform.</a:t>
            </a: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buNone/>
            </a:pPr>
            <a:r>
              <a:rPr lang="en-US" dirty="0"/>
              <a:t>Green Pace uses technologies like JUnit or </a:t>
            </a:r>
            <a:r>
              <a:rPr lang="en-US" dirty="0" err="1"/>
              <a:t>PyTest</a:t>
            </a:r>
            <a:r>
              <a:rPr lang="en-US" dirty="0"/>
              <a:t> to natively integrate negative security assertions into developer environments to guaranty ongoing security baseline validation. To test a data submission form, for instance, developers use automated Negative Boundary Tests that purposefully pass harmful payloads, such as SQL fragments, to verify that the code detects the threat and manages it correctly without crashing. In order to find unmanaged memory leaks prior to release, we augment these tests with automated fuzzing engines that toss millions of random string anomalies at our input fields.</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457200" lvl="1" indent="0">
              <a:spcBef>
                <a:spcPts val="0"/>
              </a:spcBef>
              <a:buSzPts val="2000"/>
              <a:buNone/>
            </a:pPr>
            <a:r>
              <a:rPr lang="en-US" dirty="0"/>
              <a:t>We create automated checks from planning to active monitoring by directly mapping particular security instruments to the </a:t>
            </a:r>
            <a:r>
              <a:rPr lang="en-US" dirty="0" err="1"/>
              <a:t>DevSecOps</a:t>
            </a:r>
            <a:r>
              <a:rPr lang="en-US" dirty="0"/>
              <a:t> lifecycle diagram. While concurrent SAST and SCA scanners verify essential syntax and dependency hazards throughout the code build stage, local compilers identify dangerous legacy functions in the pre-production phase. Automated Dynamic Application Security Testing (DAST) tools use fuzzing attacks on live application containers to find runtime vulnerabilities during the last staging stage before to deployment.</a:t>
            </a:r>
            <a:endParaRPr sz="16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000"/>
            </a:pPr>
            <a:r>
              <a:rPr lang="en-US" dirty="0"/>
              <a:t>Our historical reliance on human security reviews is an operational barrier, delaying product releases by two weeks while ignoring abstract logic issues, according to an objective analysis. Adopting an automated secure coding approach results in a significant 90% decrease in production software vulnerabilities, but it also requires temporary pipeline modifications and tool subscription expenditures. While postponing adoption protects short-term feature deadlines, it increases costly technological debt and puts Green Pace at unacceptable danger of a disastrous data breach.</a:t>
            </a: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914400" lvl="2" indent="0">
              <a:spcBef>
                <a:spcPts val="0"/>
              </a:spcBef>
              <a:buNone/>
            </a:pPr>
            <a:r>
              <a:rPr lang="en-US" sz="1400" dirty="0"/>
              <a:t>Our present security recommendations lack systematic developer engineering training and are blind to contemporary, API-specific vulnerabilities like broken object-level authorization (BOLA), according to a rigorous gap analysis. Green Pace will start an organization-wide Security Champions program right away in order to remove these exposures. In order to identify architectural weaknesses early in design sprints and improve communication between core engineering and security teams, this program integrates qualified security advocates directly into individual development squads.</a:t>
            </a:r>
            <a:endParaRPr sz="1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spcBef>
                <a:spcPts val="0"/>
              </a:spcBef>
              <a:buSzPts val="2200"/>
              <a:buNone/>
            </a:pPr>
            <a:r>
              <a:rPr lang="en-US" dirty="0"/>
              <a:t>Our software engineering pipeline must explicitly implement the NIST Secure Software Development Framework (SSDF) to control supply chain risks in order to guaranty long-term system resilience. At the same time, Green Pace's infrastructure will move toward a rigorous Zero Trust Architecture, which will treat all internal API calls and microservice containers as untrusted regardless of where they are located. In conclusion, security becomes a fundamental competitive advantage that ensures platform stability when it is transformed into an automated, policy-driven </a:t>
            </a:r>
            <a:r>
              <a:rPr lang="en-US" dirty="0" err="1"/>
              <a:t>DevSecOps</a:t>
            </a:r>
            <a:r>
              <a:rPr lang="en-US" dirty="0"/>
              <a:t> paradigm.</a:t>
            </a: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lvl="0"/>
            <a:r>
              <a:rPr lang="en-US" dirty="0"/>
              <a:t>National Institute of Standards and Technology. (2022). </a:t>
            </a:r>
            <a:r>
              <a:rPr lang="en-US" i="1" dirty="0"/>
              <a:t>Secure Software Development Framework (SSDF) Version 1.1: Recommendations for mitigating the risk of software vulnerabilities</a:t>
            </a:r>
            <a:r>
              <a:rPr lang="en-US" dirty="0"/>
              <a:t> (NIST Special Publication 800-218). U.S. Department of Commerce.</a:t>
            </a:r>
          </a:p>
          <a:p>
            <a:pPr lvl="0"/>
            <a:r>
              <a:rPr lang="en-US" dirty="0"/>
              <a:t>OWASP Foundation. (2021). </a:t>
            </a:r>
            <a:r>
              <a:rPr lang="en-US" i="1" dirty="0"/>
              <a:t>OWASP Top 10:2021: The core top 10 web application security risks</a:t>
            </a:r>
            <a:r>
              <a:rPr lang="en-US" dirty="0"/>
              <a:t>. owasp.org</a:t>
            </a:r>
          </a:p>
          <a:p>
            <a:pPr lvl="0"/>
            <a:r>
              <a:rPr lang="en-US" dirty="0"/>
              <a:t>Open Web Application Security Project. (2023). </a:t>
            </a:r>
            <a:r>
              <a:rPr lang="en-US" i="1" dirty="0"/>
              <a:t>OWASP API Security Top 10 - 2023</a:t>
            </a:r>
            <a:r>
              <a:rPr lang="en-US" dirty="0"/>
              <a:t>. </a:t>
            </a:r>
            <a:r>
              <a:rPr lang="en-US"/>
              <a:t>owasp.org</a:t>
            </a: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TotalTime>
  <Words>1150</Words>
  <Application>Microsoft Office PowerPoint</Application>
  <PresentationFormat>Widescreen</PresentationFormat>
  <Paragraphs>39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Kromah, Vasekou</cp:lastModifiedBy>
  <cp:revision>5</cp:revision>
  <dcterms:created xsi:type="dcterms:W3CDTF">2020-08-19T17:59:24Z</dcterms:created>
  <dcterms:modified xsi:type="dcterms:W3CDTF">2026-10-22T19:20:53Z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